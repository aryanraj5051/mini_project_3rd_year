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23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7772400" cy="73152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3100" b="1">
                <a:solidFill>
                  <a:srgbClr val="123F73"/>
                </a:solidFill>
                <a:latin typeface="Aptos Display"/>
              </a:defRPr>
            </a:pPr>
            <a:r>
              <a:t>FARMER–BUYER DIRECT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68580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600">
                <a:solidFill>
                  <a:srgbClr val="5A5A5A"/>
                </a:solidFill>
                <a:latin typeface="Aptos"/>
              </a:defRPr>
            </a:pPr>
            <a:r>
              <a:t>Connecting farmers directly with buyers for better prices and higher profit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52578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6" name="Oval 5"/>
          <p:cNvSpPr/>
          <p:nvPr/>
        </p:nvSpPr>
        <p:spPr>
          <a:xfrm>
            <a:off x="731520" y="2103120"/>
            <a:ext cx="502920" cy="502920"/>
          </a:xfrm>
          <a:prstGeom prst="ellipse">
            <a:avLst/>
          </a:prstGeom>
          <a:solidFill>
            <a:srgbClr val="27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130552"/>
            <a:ext cx="50292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700" b="1">
                <a:solidFill>
                  <a:srgbClr val="FFFFFF"/>
                </a:solidFill>
              </a:defRPr>
            </a:pPr>
            <a:r>
              <a:rPr/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2084831"/>
            <a:ext cx="434340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23F73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61488"/>
            <a:ext cx="4617720" cy="658368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rPr sz="1350"/>
              <a:t>Farmers often depend on multiple intermediaries, making it difficult to reach buyers directly and get a fair price.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401568"/>
            <a:ext cx="4526280" cy="114300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sz="1450"/>
              <a:t>• Low bargaining power for farmers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sz="1450"/>
              <a:t>• Price uncertainty and market information gaps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sz="1450"/>
              <a:t>• Limited direct access to buyers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965960"/>
            <a:ext cx="5166360" cy="3337560"/>
          </a:xfrm>
          <a:prstGeom prst="roundRect">
            <a:avLst/>
          </a:prstGeom>
          <a:solidFill>
            <a:srgbClr val="E7F6EB"/>
          </a:solidFill>
          <a:ln w="1270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12" name="Oval 11"/>
          <p:cNvSpPr/>
          <p:nvPr/>
        </p:nvSpPr>
        <p:spPr>
          <a:xfrm>
            <a:off x="6537960" y="2103120"/>
            <a:ext cx="502920" cy="502920"/>
          </a:xfrm>
          <a:prstGeom prst="ellipse">
            <a:avLst/>
          </a:prstGeom>
          <a:solidFill>
            <a:srgbClr val="27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537960" y="2130552"/>
            <a:ext cx="50292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700" b="1">
                <a:solidFill>
                  <a:srgbClr val="FFFFFF"/>
                </a:solidFill>
              </a:defRPr>
            </a:pPr>
            <a:r>
              <a:rPr/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8" y="2084831"/>
            <a:ext cx="425196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27914D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761488"/>
            <a:ext cx="4617720" cy="713232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rPr sz="1350"/>
              <a:t>A digital platform where farmers list produce and buyers discover, compare and purchase directly.</a:t>
            </a:r>
          </a:p>
        </p:txBody>
      </p:sp>
      <p:sp>
        <p:nvSpPr>
          <p:cNvPr id="16" name="Oval 15"/>
          <p:cNvSpPr/>
          <p:nvPr/>
        </p:nvSpPr>
        <p:spPr>
          <a:xfrm>
            <a:off x="6812280" y="4160520"/>
            <a:ext cx="822960" cy="822960"/>
          </a:xfrm>
          <a:prstGeom prst="ellipse">
            <a:avLst/>
          </a:prstGeom>
          <a:solidFill>
            <a:srgbClr val="27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812280" y="4325112"/>
            <a:ext cx="82296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FFFFFF"/>
                </a:solidFill>
              </a:defRPr>
            </a:pPr>
            <a:r>
              <a:rPr/>
              <a:t>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029200"/>
            <a:ext cx="128016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232323"/>
                </a:solidFill>
              </a:defRPr>
            </a:pPr>
            <a:r>
              <a:rPr sz="1100"/>
              <a:t>Farmer</a:t>
            </a:r>
          </a:p>
        </p:txBody>
      </p:sp>
      <p:sp>
        <p:nvSpPr>
          <p:cNvPr id="19" name="Oval 18"/>
          <p:cNvSpPr/>
          <p:nvPr/>
        </p:nvSpPr>
        <p:spPr>
          <a:xfrm>
            <a:off x="8549640" y="4160520"/>
            <a:ext cx="822960" cy="822960"/>
          </a:xfrm>
          <a:prstGeom prst="ellipse">
            <a:avLst/>
          </a:prstGeom>
          <a:solidFill>
            <a:srgbClr val="123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8549640" y="4325112"/>
            <a:ext cx="82296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FFFFFF"/>
                </a:solidFill>
              </a:defRPr>
            </a:pPr>
            <a:r>
              <a:rPr/>
              <a:t>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029200"/>
            <a:ext cx="128016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232323"/>
                </a:solidFill>
              </a:defRPr>
            </a:pPr>
            <a:r>
              <a:rPr sz="1100"/>
              <a:t>Platform</a:t>
            </a:r>
          </a:p>
        </p:txBody>
      </p:sp>
      <p:sp>
        <p:nvSpPr>
          <p:cNvPr id="22" name="Oval 21"/>
          <p:cNvSpPr/>
          <p:nvPr/>
        </p:nvSpPr>
        <p:spPr>
          <a:xfrm>
            <a:off x="10287000" y="4160520"/>
            <a:ext cx="822960" cy="822960"/>
          </a:xfrm>
          <a:prstGeom prst="ellipse">
            <a:avLst/>
          </a:prstGeom>
          <a:solidFill>
            <a:srgbClr val="27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10287000" y="4325112"/>
            <a:ext cx="82296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FFFFFF"/>
                </a:solidFill>
              </a:defRPr>
            </a:pPr>
            <a:r>
              <a:rPr/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5029200"/>
            <a:ext cx="128016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232323"/>
                </a:solidFill>
              </a:defRPr>
            </a:pPr>
            <a:r>
              <a:rPr sz="1100"/>
              <a:t>Buyer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635240" y="4572000"/>
            <a:ext cx="914400" cy="0"/>
          </a:xfrm>
          <a:prstGeom prst="line">
            <a:avLst/>
          </a:prstGeom>
          <a:ln w="19050">
            <a:solidFill>
              <a:srgbClr val="123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372600" y="4572000"/>
            <a:ext cx="914400" cy="0"/>
          </a:xfrm>
          <a:prstGeom prst="line">
            <a:avLst/>
          </a:prstGeom>
          <a:ln w="19050">
            <a:solidFill>
              <a:srgbClr val="123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900">
                <a:solidFill>
                  <a:srgbClr val="5A5A5A"/>
                </a:solidFill>
                <a:latin typeface="Aptos"/>
              </a:defRPr>
            </a:pPr>
            <a:r>
              <a:rPr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23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2800" b="1">
                <a:solidFill>
                  <a:srgbClr val="123F73"/>
                </a:solidFill>
                <a:latin typeface="Aptos Display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200">
                <a:solidFill>
                  <a:srgbClr val="5A5A5A"/>
                </a:solidFill>
                <a:latin typeface="Aptos"/>
              </a:defRPr>
            </a:pPr>
            <a:r>
              <a:t>Simple, direct and transparent marketplace for agricultural produce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3657600" cy="4480560"/>
          </a:xfrm>
          <a:prstGeom prst="roundRect">
            <a:avLst/>
          </a:prstGeom>
          <a:solidFill>
            <a:srgbClr val="E7F6EB"/>
          </a:solidFill>
          <a:ln w="1270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6" name="Oval 5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27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40080" y="1399032"/>
            <a:ext cx="5029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700" b="1">
                <a:solidFill>
                  <a:srgbClr val="FFFFFF"/>
                </a:solidFill>
              </a:defRPr>
            </a:pPr>
            <a:r>
              <a:rPr/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389888"/>
            <a:ext cx="278892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27914D"/>
                </a:solidFill>
                <a:latin typeface="Aptos"/>
              </a:defRPr>
            </a:pPr>
            <a:r>
              <a:rPr sz="1800" b="1">
                <a:solidFill>
                  <a:srgbClr val="27794D"/>
                </a:solidFill>
              </a:rPr>
              <a:t>Core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20240"/>
            <a:ext cx="3246120" cy="3429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sz="1300" b="0">
                <a:solidFill>
                  <a:srgbClr val="282828"/>
                </a:solidFill>
              </a:rPr>
              <a:t>• Farmer product listing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sz="1300" b="0">
                <a:solidFill>
                  <a:srgbClr val="282828"/>
                </a:solidFill>
              </a:rPr>
              <a:t>• Buyer search and discovery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sz="1300" b="0">
                <a:solidFill>
                  <a:srgbClr val="282828"/>
                </a:solidFill>
              </a:rPr>
              <a:t>• Live price and quantity details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sz="1300" b="0">
                <a:solidFill>
                  <a:srgbClr val="282828"/>
                </a:solidFill>
              </a:rPr>
              <a:t>• Direct enquiry / order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sz="1300" b="0">
                <a:solidFill>
                  <a:srgbClr val="282828"/>
                </a:solidFill>
              </a:rPr>
              <a:t>• Ratings and trusted profiles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417320"/>
            <a:ext cx="22402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709160" y="1463040"/>
            <a:ext cx="224028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23F73"/>
                </a:solidFill>
                <a:latin typeface="Aptos"/>
              </a:defRPr>
            </a:pPr>
            <a:r>
              <a:rPr sz="1800" b="1">
                <a:solidFill>
                  <a:srgbClr val="1F4777"/>
                </a:solidFill>
              </a:rPr>
              <a:t>Farmer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901952"/>
            <a:ext cx="214884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rPr sz="1000" b="0">
                <a:solidFill>
                  <a:srgbClr val="373737"/>
                </a:solidFill>
              </a:rPr>
              <a:t>Add produce • Price • Quantity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417320"/>
            <a:ext cx="22402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543800" y="1463040"/>
            <a:ext cx="224028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23F73"/>
                </a:solidFill>
                <a:latin typeface="Aptos"/>
              </a:defRPr>
            </a:pPr>
            <a:r>
              <a:rPr sz="1800" b="1">
                <a:solidFill>
                  <a:srgbClr val="1F4777"/>
                </a:solidFill>
              </a:rPr>
              <a:t>Buyer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901952"/>
            <a:ext cx="214884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rPr sz="1000" b="0">
                <a:solidFill>
                  <a:srgbClr val="373737"/>
                </a:solidFill>
              </a:rPr>
              <a:t>Search • Compare • Order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880360"/>
            <a:ext cx="2240280" cy="914400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199632" y="2944368"/>
            <a:ext cx="2093976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23F73"/>
                </a:solidFill>
                <a:latin typeface="Aptos"/>
              </a:defRPr>
            </a:pPr>
            <a:r>
              <a:rPr sz="1600" b="1">
                <a:solidFill>
                  <a:srgbClr val="1F4777"/>
                </a:solidFill>
              </a:rPr>
              <a:t>Web / Mobile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3401568"/>
            <a:ext cx="209397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rPr sz="1000" b="0">
                <a:solidFill>
                  <a:srgbClr val="373737"/>
                </a:solidFill>
              </a:rPr>
              <a:t>Marketplace &amp; Matching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343400"/>
            <a:ext cx="22402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199632" y="4407408"/>
            <a:ext cx="209397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23F73"/>
                </a:solidFill>
                <a:latin typeface="Aptos"/>
              </a:defRPr>
            </a:pPr>
            <a:r>
              <a:rPr sz="1500" b="1">
                <a:solidFill>
                  <a:srgbClr val="1F4777"/>
                </a:solidFill>
              </a:rPr>
              <a:t>Backend +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4864608"/>
            <a:ext cx="209397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rPr sz="1000" b="0">
                <a:solidFill>
                  <a:srgbClr val="373737"/>
                </a:solidFill>
              </a:rPr>
              <a:t>Users • Products • Orders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3063240"/>
            <a:ext cx="2423160" cy="2194560"/>
          </a:xfrm>
          <a:prstGeom prst="roundRect">
            <a:avLst/>
          </a:prstGeom>
          <a:solidFill>
            <a:srgbClr val="FCF1E4"/>
          </a:solidFill>
          <a:ln w="1270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26" name="Oval 25"/>
          <p:cNvSpPr/>
          <p:nvPr/>
        </p:nvSpPr>
        <p:spPr>
          <a:xfrm>
            <a:off x="10104120" y="3218688"/>
            <a:ext cx="502920" cy="502920"/>
          </a:xfrm>
          <a:prstGeom prst="ellipse">
            <a:avLst/>
          </a:prstGeom>
          <a:solidFill>
            <a:srgbClr val="27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10104120" y="3227832"/>
            <a:ext cx="50292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700" b="1">
                <a:solidFill>
                  <a:srgbClr val="FFFFFF"/>
                </a:solidFill>
              </a:defRPr>
            </a:pPr>
            <a:r>
              <a:rPr sz="1800" b="1"/>
              <a:t>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703320"/>
            <a:ext cx="196596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EE7E1C"/>
                </a:solidFill>
                <a:latin typeface="Aptos"/>
              </a:defRPr>
            </a:pPr>
            <a:r>
              <a:rPr sz="1700" b="1">
                <a:solidFill>
                  <a:srgbClr val="E57E22"/>
                </a:solidFill>
              </a:rPr>
              <a:t>Outcome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4114800"/>
            <a:ext cx="196596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rPr sz="1200" b="0">
                <a:solidFill>
                  <a:srgbClr val="2D2D2D"/>
                </a:solidFill>
              </a:rPr>
              <a:t>Better market access</a:t>
            </a:r>
            <a:br/>
            <a:r>
              <a:rPr sz="1200" b="0">
                <a:solidFill>
                  <a:srgbClr val="2D2D2D"/>
                </a:solidFill>
              </a:rPr>
              <a:t>Fairer pricing</a:t>
            </a:r>
            <a:br/>
            <a:r>
              <a:rPr sz="1200" b="0">
                <a:solidFill>
                  <a:srgbClr val="2D2D2D"/>
                </a:solidFill>
              </a:rPr>
              <a:t>Higher farmer profit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900">
                <a:solidFill>
                  <a:srgbClr val="5A5A5A"/>
                </a:solidFill>
                <a:latin typeface="Aptos"/>
              </a:defRPr>
            </a:pPr>
            <a:r>
              <a:rPr/>
              <a:t>2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829300" y="2331720"/>
            <a:ext cx="1417320" cy="54864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7246620" y="2331720"/>
            <a:ext cx="1417320" cy="54864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246620" y="3794760"/>
            <a:ext cx="0" cy="54864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23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2800" b="1">
                <a:solidFill>
                  <a:srgbClr val="123F73"/>
                </a:solidFill>
                <a:latin typeface="Aptos Display"/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200">
                <a:solidFill>
                  <a:srgbClr val="5A5A5A"/>
                </a:solidFill>
                <a:latin typeface="Aptos"/>
              </a:defRPr>
            </a:pPr>
            <a:r>
              <a:t>Focused technology stack for a scalable marketplace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36576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362456"/>
            <a:ext cx="329184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23F73"/>
                </a:solidFill>
                <a:latin typeface="Aptos"/>
              </a:defRPr>
            </a:pPr>
            <a:r>
              <a:rPr sz="1500" b="1">
                <a:solidFill>
                  <a:srgbClr val="1F4777"/>
                </a:solidFill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55064"/>
            <a:ext cx="329184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rPr sz="1000" b="0">
                <a:solidFill>
                  <a:srgbClr val="373737"/>
                </a:solidFill>
              </a:rPr>
              <a:t>React / Next.js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39112"/>
            <a:ext cx="36576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2167128"/>
            <a:ext cx="329184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23F73"/>
                </a:solidFill>
                <a:latin typeface="Aptos"/>
              </a:defRPr>
            </a:pPr>
            <a:r>
              <a:rPr sz="1500" b="1">
                <a:solidFill>
                  <a:srgbClr val="1F4777"/>
                </a:solidFill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59736"/>
            <a:ext cx="329184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rPr sz="1000" b="0">
                <a:solidFill>
                  <a:srgbClr val="373737"/>
                </a:solidFill>
              </a:rPr>
              <a:t>Node.js / Express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43784"/>
            <a:ext cx="36576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85800" y="2971800"/>
            <a:ext cx="329184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23F73"/>
                </a:solidFill>
                <a:latin typeface="Aptos"/>
              </a:defRPr>
            </a:pPr>
            <a:r>
              <a:rPr sz="1500" b="1">
                <a:solidFill>
                  <a:srgbClr val="1F4777"/>
                </a:solidFill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64408"/>
            <a:ext cx="329184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rPr sz="1000" b="0">
                <a:solidFill>
                  <a:srgbClr val="373737"/>
                </a:solidFill>
              </a:rPr>
              <a:t>MongoDB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648456"/>
            <a:ext cx="36576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85800" y="3776472"/>
            <a:ext cx="329184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23F73"/>
                </a:solidFill>
                <a:latin typeface="Aptos"/>
              </a:defRPr>
            </a:pPr>
            <a:r>
              <a:rPr sz="1500" b="1">
                <a:solidFill>
                  <a:srgbClr val="1F4777"/>
                </a:solidFill>
              </a:rPr>
              <a:t>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69080"/>
            <a:ext cx="329184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rPr sz="1000" b="0">
                <a:solidFill>
                  <a:srgbClr val="373737"/>
                </a:solidFill>
              </a:rPr>
              <a:t>Secure login &amp; verification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53128"/>
            <a:ext cx="36576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85800" y="4581144"/>
            <a:ext cx="329184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23F73"/>
                </a:solidFill>
                <a:latin typeface="Aptos"/>
              </a:defRPr>
            </a:pPr>
            <a:r>
              <a:rPr sz="1500" b="1">
                <a:solidFill>
                  <a:srgbClr val="1F4777"/>
                </a:solidFill>
              </a:rPr>
              <a:t>APIs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73752"/>
            <a:ext cx="329184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rPr sz="1000" b="0">
                <a:solidFill>
                  <a:srgbClr val="373737"/>
                </a:solidFill>
              </a:rPr>
              <a:t>Maps, payments &amp; notifications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257800"/>
            <a:ext cx="36576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85800" y="5385816"/>
            <a:ext cx="329184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23F73"/>
                </a:solidFill>
                <a:latin typeface="Aptos"/>
              </a:defRPr>
            </a:pPr>
            <a:r>
              <a:rPr sz="1500" b="1">
                <a:solidFill>
                  <a:srgbClr val="1F4777"/>
                </a:solidFill>
              </a:rPr>
              <a:t>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678424"/>
            <a:ext cx="329184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rPr sz="1000" b="0">
                <a:solidFill>
                  <a:srgbClr val="373737"/>
                </a:solidFill>
              </a:rPr>
              <a:t>Cloud hosting + Git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00600" y="1371600"/>
            <a:ext cx="2103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800600" y="1389888"/>
            <a:ext cx="2103120" cy="7132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300" b="1">
                <a:solidFill>
                  <a:srgbClr val="232323"/>
                </a:solidFill>
              </a:defRPr>
            </a:pPr>
            <a:r>
              <a:rPr sz="1400" b="1">
                <a:solidFill>
                  <a:srgbClr val="282828"/>
                </a:solidFill>
              </a:rPr>
              <a:t>Register / Login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1371600"/>
            <a:ext cx="2103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7726679" y="1389888"/>
            <a:ext cx="2103120" cy="7132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300" b="1">
                <a:solidFill>
                  <a:srgbClr val="232323"/>
                </a:solidFill>
              </a:defRPr>
            </a:pPr>
            <a:r>
              <a:rPr sz="1400" b="1">
                <a:solidFill>
                  <a:srgbClr val="282828"/>
                </a:solidFill>
              </a:rPr>
              <a:t>List / Search Produce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2743200"/>
            <a:ext cx="2103120" cy="777240"/>
          </a:xfrm>
          <a:prstGeom prst="roundRect">
            <a:avLst/>
          </a:prstGeom>
          <a:solidFill>
            <a:srgbClr val="E7F6EB"/>
          </a:solidFill>
          <a:ln>
            <a:solidFill>
              <a:srgbClr val="279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6263640" y="2761488"/>
            <a:ext cx="2103120" cy="7132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300" b="1">
                <a:solidFill>
                  <a:srgbClr val="232323"/>
                </a:solidFill>
              </a:defRPr>
            </a:pPr>
            <a:r>
              <a:rPr sz="1400" b="1">
                <a:solidFill>
                  <a:srgbClr val="2D6441"/>
                </a:solidFill>
              </a:rPr>
              <a:t>Match Farmer ↔ Buyer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114800"/>
            <a:ext cx="2103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6263640" y="4133087"/>
            <a:ext cx="2103120" cy="7132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300" b="1">
                <a:solidFill>
                  <a:srgbClr val="232323"/>
                </a:solidFill>
              </a:defRPr>
            </a:pPr>
            <a:r>
              <a:rPr sz="1400" b="1">
                <a:solidFill>
                  <a:srgbClr val="282828"/>
                </a:solidFill>
              </a:rPr>
              <a:t>Order / Contact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5486400"/>
            <a:ext cx="21031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6263640" y="5504688"/>
            <a:ext cx="210312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300" b="1">
                <a:solidFill>
                  <a:srgbClr val="232323"/>
                </a:solidFill>
              </a:defRPr>
            </a:pPr>
            <a:r>
              <a:rPr sz="1300" b="1">
                <a:solidFill>
                  <a:srgbClr val="282828"/>
                </a:solidFill>
              </a:rPr>
              <a:t>Feedback &amp; Records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900">
                <a:solidFill>
                  <a:srgbClr val="5A5A5A"/>
                </a:solidFill>
                <a:latin typeface="Aptos"/>
              </a:defRPr>
            </a:pPr>
            <a:r>
              <a:rPr/>
              <a:t>3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852160" y="2148840"/>
            <a:ext cx="1463040" cy="59436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7315200" y="2148840"/>
            <a:ext cx="1463040" cy="59436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315200" y="3520440"/>
            <a:ext cx="0" cy="59436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315200" y="4892040"/>
            <a:ext cx="0" cy="59436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23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2800" b="1">
                <a:solidFill>
                  <a:srgbClr val="123F73"/>
                </a:solidFill>
                <a:latin typeface="Aptos Display"/>
              </a:defRPr>
            </a:pPr>
            <a: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200">
                <a:solidFill>
                  <a:srgbClr val="5A5A5A"/>
                </a:solidFill>
                <a:latin typeface="Aptos"/>
              </a:defRPr>
            </a:pPr>
            <a:r>
              <a:rPr sz="1250"/>
              <a:t>Practical for farmers, buyers and local agricultural markets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349240" cy="2011680"/>
          </a:xfrm>
          <a:prstGeom prst="roundRect">
            <a:avLst/>
          </a:prstGeom>
          <a:solidFill>
            <a:srgbClr val="E7F6EB"/>
          </a:solidFill>
          <a:ln w="1270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6" name="Oval 5"/>
          <p:cNvSpPr/>
          <p:nvPr/>
        </p:nvSpPr>
        <p:spPr>
          <a:xfrm>
            <a:off x="731520" y="1463039"/>
            <a:ext cx="502920" cy="502920"/>
          </a:xfrm>
          <a:prstGeom prst="ellipse">
            <a:avLst/>
          </a:prstGeom>
          <a:solidFill>
            <a:srgbClr val="27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1490472"/>
            <a:ext cx="50292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700" b="1">
                <a:solidFill>
                  <a:srgbClr val="FFFFFF"/>
                </a:solidFill>
              </a:defRPr>
            </a:pPr>
            <a:r>
              <a:rPr/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444752"/>
            <a:ext cx="443484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27914D"/>
                </a:solidFill>
                <a:latin typeface="Aptos"/>
              </a:defRPr>
            </a:pPr>
            <a:r>
              <a:t>Feasibility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4709160" cy="114300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350">
                <a:solidFill>
                  <a:srgbClr val="232323"/>
                </a:solidFill>
                <a:latin typeface="Aptos"/>
              </a:defRPr>
            </a:pPr>
            <a:r>
              <a:rPr sz="1350"/>
              <a:t>• Uses proven web, database and payment technologies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350">
                <a:solidFill>
                  <a:srgbClr val="232323"/>
                </a:solidFill>
                <a:latin typeface="Aptos"/>
              </a:defRPr>
            </a:pPr>
            <a:r>
              <a:rPr sz="1350"/>
              <a:t>• Modular features allow gradual development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350">
                <a:solidFill>
                  <a:srgbClr val="232323"/>
                </a:solidFill>
                <a:latin typeface="Aptos"/>
              </a:defRPr>
            </a:pPr>
            <a:r>
              <a:rPr sz="1350"/>
              <a:t>• Can start locally and scale to more regions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349240" cy="2011680"/>
          </a:xfrm>
          <a:prstGeom prst="roundRect">
            <a:avLst/>
          </a:prstGeom>
          <a:solidFill>
            <a:srgbClr val="FCF1E4"/>
          </a:solidFill>
          <a:ln w="1270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11" name="Oval 10"/>
          <p:cNvSpPr/>
          <p:nvPr/>
        </p:nvSpPr>
        <p:spPr>
          <a:xfrm>
            <a:off x="6400800" y="1463039"/>
            <a:ext cx="502920" cy="502920"/>
          </a:xfrm>
          <a:prstGeom prst="ellipse">
            <a:avLst/>
          </a:prstGeom>
          <a:solidFill>
            <a:srgbClr val="27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0" y="1490472"/>
            <a:ext cx="50292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700" b="1">
                <a:solidFill>
                  <a:srgbClr val="FFFFFF"/>
                </a:solidFill>
              </a:defRPr>
            </a:pPr>
            <a:r>
              <a:rPr/>
              <a:t>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3448" y="1444752"/>
            <a:ext cx="443484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EE7E1C"/>
                </a:solidFill>
                <a:latin typeface="Aptos"/>
              </a:defRPr>
            </a:pPr>
            <a:r>
              <a:t>Business Potential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709160" cy="114300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350">
                <a:solidFill>
                  <a:srgbClr val="232323"/>
                </a:solidFill>
                <a:latin typeface="Aptos"/>
              </a:defRPr>
            </a:pPr>
            <a:r>
              <a:rPr sz="1350"/>
              <a:t>• Small commission on successful transactions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350">
                <a:solidFill>
                  <a:srgbClr val="232323"/>
                </a:solidFill>
                <a:latin typeface="Aptos"/>
              </a:defRPr>
            </a:pPr>
            <a:r>
              <a:rPr sz="1350"/>
              <a:t>• Premium visibility for buyers or sellers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350">
                <a:solidFill>
                  <a:srgbClr val="232323"/>
                </a:solidFill>
                <a:latin typeface="Aptos"/>
              </a:defRPr>
            </a:pPr>
            <a:r>
              <a:rPr sz="1350"/>
              <a:t>• Partnerships with local markets and businesses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611880"/>
            <a:ext cx="5349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16" name="Oval 15"/>
          <p:cNvSpPr/>
          <p:nvPr/>
        </p:nvSpPr>
        <p:spPr>
          <a:xfrm>
            <a:off x="731520" y="3749040"/>
            <a:ext cx="502920" cy="502920"/>
          </a:xfrm>
          <a:prstGeom prst="ellipse">
            <a:avLst/>
          </a:prstGeom>
          <a:solidFill>
            <a:srgbClr val="27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31520" y="3776472"/>
            <a:ext cx="50292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700" b="1">
                <a:solidFill>
                  <a:srgbClr val="FFFFFF"/>
                </a:solidFill>
              </a:defRPr>
            </a:pPr>
            <a:r>
              <a:rPr/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3730752"/>
            <a:ext cx="443484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23F73"/>
                </a:solidFill>
                <a:latin typeface="Aptos"/>
              </a:defRPr>
            </a:pPr>
            <a:r>
              <a:t>Key Challenges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51960"/>
            <a:ext cx="4709160" cy="114300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350">
                <a:solidFill>
                  <a:srgbClr val="232323"/>
                </a:solidFill>
                <a:latin typeface="Aptos"/>
              </a:defRPr>
            </a:pPr>
            <a:r>
              <a:rPr sz="1350"/>
              <a:t>• Building trust between new users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350">
                <a:solidFill>
                  <a:srgbClr val="232323"/>
                </a:solidFill>
                <a:latin typeface="Aptos"/>
              </a:defRPr>
            </a:pPr>
            <a:r>
              <a:rPr sz="1350"/>
              <a:t>• Accurate pricing and product information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350">
                <a:solidFill>
                  <a:srgbClr val="232323"/>
                </a:solidFill>
                <a:latin typeface="Aptos"/>
              </a:defRPr>
            </a:pPr>
            <a:r>
              <a:rPr sz="1350"/>
              <a:t>• Farmer adoption and digital literacy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11880"/>
            <a:ext cx="5349240" cy="2011680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21" name="Oval 20"/>
          <p:cNvSpPr/>
          <p:nvPr/>
        </p:nvSpPr>
        <p:spPr>
          <a:xfrm>
            <a:off x="6400800" y="3749040"/>
            <a:ext cx="502920" cy="502920"/>
          </a:xfrm>
          <a:prstGeom prst="ellipse">
            <a:avLst/>
          </a:prstGeom>
          <a:solidFill>
            <a:srgbClr val="27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400800" y="3776472"/>
            <a:ext cx="50292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700" b="1">
                <a:solidFill>
                  <a:srgbClr val="FFFFFF"/>
                </a:solidFill>
              </a:defRPr>
            </a:pPr>
            <a:r>
              <a:rPr/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3448" y="3730752"/>
            <a:ext cx="443484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23F73"/>
                </a:solidFill>
                <a:latin typeface="Aptos"/>
              </a:defRPr>
            </a:pPr>
            <a:r>
              <a:t>Our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251960"/>
            <a:ext cx="4709160" cy="114300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350">
                <a:solidFill>
                  <a:srgbClr val="232323"/>
                </a:solidFill>
                <a:latin typeface="Aptos"/>
              </a:defRPr>
            </a:pPr>
            <a:r>
              <a:rPr sz="1350"/>
              <a:t>• Verified profiles and transparent ratings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350">
                <a:solidFill>
                  <a:srgbClr val="232323"/>
                </a:solidFill>
                <a:latin typeface="Aptos"/>
              </a:defRPr>
            </a:pPr>
            <a:r>
              <a:rPr sz="1350"/>
              <a:t>• Clear product, price and quantity details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350">
                <a:solidFill>
                  <a:srgbClr val="232323"/>
                </a:solidFill>
                <a:latin typeface="Aptos"/>
              </a:defRPr>
            </a:pPr>
            <a:r>
              <a:rPr sz="1350"/>
              <a:t>• Simple mobile-first user experience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900">
                <a:solidFill>
                  <a:srgbClr val="5A5A5A"/>
                </a:solidFill>
                <a:latin typeface="Aptos"/>
              </a:defRPr>
            </a:pPr>
            <a:r>
              <a:rPr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23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2800" b="1">
                <a:solidFill>
                  <a:srgbClr val="123F73"/>
                </a:solidFill>
                <a:latin typeface="Aptos Display"/>
              </a:defRPr>
            </a:pPr>
            <a: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200">
                <a:solidFill>
                  <a:srgbClr val="5A5A5A"/>
                </a:solidFill>
                <a:latin typeface="Aptos"/>
              </a:defRPr>
            </a:pPr>
            <a:r>
              <a:rPr sz="1250"/>
              <a:t>A direct marketplace designed around farmer income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383280" cy="4480560"/>
          </a:xfrm>
          <a:prstGeom prst="roundRect">
            <a:avLst/>
          </a:prstGeom>
          <a:solidFill>
            <a:srgbClr val="E7F6EB"/>
          </a:solidFill>
          <a:ln w="1270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6" name="Oval 5"/>
          <p:cNvSpPr/>
          <p:nvPr/>
        </p:nvSpPr>
        <p:spPr>
          <a:xfrm>
            <a:off x="685800" y="1463039"/>
            <a:ext cx="502920" cy="502920"/>
          </a:xfrm>
          <a:prstGeom prst="ellipse">
            <a:avLst/>
          </a:prstGeom>
          <a:solidFill>
            <a:srgbClr val="27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50292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700" b="1">
                <a:solidFill>
                  <a:srgbClr val="FFFFFF"/>
                </a:solidFill>
              </a:defRPr>
            </a:pPr>
            <a:r>
              <a:rPr/>
              <a:t>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444752"/>
            <a:ext cx="246888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27914D"/>
                </a:solidFill>
                <a:latin typeface="Aptos"/>
              </a:defRPr>
            </a:pPr>
            <a:r>
              <a:t>For Farmers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2788920" cy="301752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sz="1350"/>
              <a:t>• Reach more buyers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sz="1350"/>
              <a:t>• Better bargaining power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sz="1350"/>
              <a:t>• Reduced dependency on intermediaries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sz="1350"/>
              <a:t>• Transparent prices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sz="1350"/>
              <a:t>• Higher earning potential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383280" cy="4480560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11" name="Oval 10"/>
          <p:cNvSpPr/>
          <p:nvPr/>
        </p:nvSpPr>
        <p:spPr>
          <a:xfrm>
            <a:off x="4526280" y="1463039"/>
            <a:ext cx="502920" cy="502920"/>
          </a:xfrm>
          <a:prstGeom prst="ellipse">
            <a:avLst/>
          </a:prstGeom>
          <a:solidFill>
            <a:srgbClr val="27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526280" y="1490472"/>
            <a:ext cx="50292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700" b="1">
                <a:solidFill>
                  <a:srgbClr val="FFFFFF"/>
                </a:solidFill>
              </a:defRPr>
            </a:pPr>
            <a:r>
              <a:rPr/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1444752"/>
            <a:ext cx="2468879" cy="41148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123F73"/>
                </a:solidFill>
                <a:latin typeface="Aptos"/>
              </a:defRPr>
            </a:pPr>
            <a:r>
              <a:t>For Buyers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057400"/>
            <a:ext cx="2788920" cy="301752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sz="1350"/>
              <a:t>• Direct access to produce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sz="1350"/>
              <a:t>• Compare price and quantity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sz="1350"/>
              <a:t>• Know the farmer / source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sz="1350"/>
              <a:t>• Simpler purchasing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sz="1350"/>
              <a:t>• Reliable communication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325880"/>
            <a:ext cx="3383280" cy="4480560"/>
          </a:xfrm>
          <a:prstGeom prst="roundRect">
            <a:avLst/>
          </a:prstGeom>
          <a:solidFill>
            <a:srgbClr val="FCF1E4"/>
          </a:solidFill>
          <a:ln w="1270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16" name="Oval 15"/>
          <p:cNvSpPr/>
          <p:nvPr/>
        </p:nvSpPr>
        <p:spPr>
          <a:xfrm>
            <a:off x="8366760" y="1463039"/>
            <a:ext cx="502920" cy="502920"/>
          </a:xfrm>
          <a:prstGeom prst="ellipse">
            <a:avLst/>
          </a:prstGeom>
          <a:solidFill>
            <a:srgbClr val="27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366760" y="1490472"/>
            <a:ext cx="50292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700" b="1">
                <a:solidFill>
                  <a:srgbClr val="FFFFFF"/>
                </a:solidFill>
              </a:defRPr>
            </a:pPr>
            <a:r>
              <a:rPr/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9408" y="1444752"/>
            <a:ext cx="2468879" cy="41148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600" b="1">
                <a:solidFill>
                  <a:srgbClr val="EE7E1C"/>
                </a:solidFill>
                <a:latin typeface="Aptos"/>
              </a:defRPr>
            </a:pPr>
            <a:r>
              <a:t>Overall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057400"/>
            <a:ext cx="2788920" cy="301752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sz="1350"/>
              <a:t>• Fairer agricultural trade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sz="1350"/>
              <a:t>• Stronger farmer income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sz="1350"/>
              <a:t>• Less unnecessary intermediation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sz="1350"/>
              <a:t>• Better market transparency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sz="1350"/>
              <a:t>• Local economic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6080760"/>
            <a:ext cx="1014984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1800" b="1">
                <a:solidFill>
                  <a:srgbClr val="123F73"/>
                </a:solidFill>
                <a:latin typeface="Aptos Display"/>
              </a:defRPr>
            </a:pPr>
            <a:r>
              <a:rPr sz="1250"/>
              <a:t>CONNECT FARMERS • REACH BUYERS • IMPROVE 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defRPr sz="900">
                <a:solidFill>
                  <a:srgbClr val="5A5A5A"/>
                </a:solidFill>
                <a:latin typeface="Aptos"/>
              </a:defRPr>
            </a:pPr>
            <a:r>
              <a:rPr/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